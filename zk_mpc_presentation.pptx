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41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Zero-Knowledge from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ADCFC"/>
                </a:solidFill>
              </a:rPr>
              <a:t>Secure Multiparty Computation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80467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</a:rPr>
              <a:t>Yuval Ishai  ·  Eyal Kushilevitz  ·  Rafail Ostrovsky  ·  Amit Sahai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A9D4"/>
                </a:solidFill>
              </a:rPr>
              <a:t>Technion  &amp;  UCLA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A9D4"/>
                </a:solidFill>
              </a:rPr>
              <a:t>STOC 2007  ·  Invited to SIAM J. Computing Special Issue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243B7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Zero-Knowledge Proofs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406908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243B7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Secure MPC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406908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243B7A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Black-Box Reductions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DC0"/>
                </a:solidFill>
              </a:rPr>
              <a:t>Paper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dirty="0"/>
              <a:t>S`</a:t>
            </a:r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51960" cy="9601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87782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Motivation &amp; Problem Setting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2070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Why is connecting ZK and MPC non-trivial and why does it matter?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425196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92808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92808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1947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27685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Zero-knowledge proofs, MPC definitions, semi-honest vs. malicious models.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62656"/>
            <a:ext cx="4251960" cy="9601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62656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62656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30175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Core Construction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34670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The "MPC-in-the-head" protocol: secret-share, simulate, commit, open.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425196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32504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32504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" y="40873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Setting Diagram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4165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Visual overview of the prover–verifier–MPC execution.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822960"/>
            <a:ext cx="4251960" cy="9601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822960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22960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93208" y="87782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Protocol Details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93208" y="12070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Basic ΠR, coin-flipping variant Π′R, and the robust variant ΠR,t.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892808"/>
            <a:ext cx="425196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892808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892808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93208" y="19476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93208" y="227685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Approaching witness length &amp; constant-rate zero-knowledge (O(s)).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2962656"/>
            <a:ext cx="4251960" cy="9601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962656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962656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93208" y="30175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What the paper doesn't solve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93208" y="334670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Concrete efficiency, round complexity, extensions.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032504"/>
            <a:ext cx="425196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4032504"/>
            <a:ext cx="34747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032504"/>
            <a:ext cx="347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93208" y="408736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Discussion &amp; Open Problems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93208" y="441655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Limitations, extensions, open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Motivation: Bridging ZK and MPC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8915" y="822960"/>
            <a:ext cx="4114800" cy="4023360"/>
          </a:xfrm>
          <a:prstGeom prst="rect">
            <a:avLst/>
          </a:prstGeom>
          <a:solidFill>
            <a:srgbClr val="F0F4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96112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The Efficiency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38953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Classical ZK proofs (GMW '87) reduce any NP relation to 3-Colorability via a Karp reduction, then prove knowledge of a coloring.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38953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This incurs a large blowup: communication ≫ circuit size of the relation.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542032"/>
            <a:ext cx="38953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Best prior protocols had O(k·s) communication (e.g., Cramer–Damgård), where k = security parameter.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163824"/>
            <a:ext cx="38953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The GMW paradigm for boosting semi-honest → malicious MPC requires NON-black-box access to the underlying protocol.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785616"/>
            <a:ext cx="389534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Goal: black-box reductions that are both simpler and more efficient.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206240" cy="402336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89611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</a:rPr>
              <a:t>The Key Insight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73168" y="1298448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1E2761"/>
                </a:solidFill>
              </a:rPr>
              <a:t>▸</a:t>
            </a:r>
            <a:r>
              <a:rPr lang="en-US" sz="1050" b="1" dirty="0">
                <a:solidFill>
                  <a:srgbClr val="065F46"/>
                </a:solidFill>
              </a:rPr>
              <a:t>  </a:t>
            </a:r>
            <a:r>
              <a:rPr lang="en-US" sz="1050" dirty="0">
                <a:solidFill>
                  <a:srgbClr val="4B5563"/>
                </a:solidFill>
              </a:rPr>
              <a:t>MPC with honest majority is well-studied, information-theoretically secure, and highly efficient.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73168" y="1920240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1E2761"/>
                </a:solidFill>
              </a:rPr>
              <a:t>▸</a:t>
            </a:r>
            <a:r>
              <a:rPr lang="en-US" sz="1050" b="1" dirty="0">
                <a:solidFill>
                  <a:srgbClr val="065F46"/>
                </a:solidFill>
              </a:rPr>
              <a:t>  </a:t>
            </a:r>
            <a:r>
              <a:rPr lang="en-US" sz="1050" dirty="0">
                <a:solidFill>
                  <a:srgbClr val="4B5563"/>
                </a:solidFill>
              </a:rPr>
              <a:t>Zero-knowledge can be seen as a special case of secure 2-party computation — but proofs ≠ MPC protocols.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73168" y="2542032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1E2761"/>
                </a:solidFill>
              </a:rPr>
              <a:t>▸</a:t>
            </a:r>
            <a:r>
              <a:rPr lang="en-US" sz="1050" b="1" dirty="0">
                <a:solidFill>
                  <a:srgbClr val="065F46"/>
                </a:solidFill>
              </a:rPr>
              <a:t>  </a:t>
            </a:r>
            <a:r>
              <a:rPr lang="en-US" sz="1050" dirty="0">
                <a:solidFill>
                  <a:srgbClr val="4B5563"/>
                </a:solidFill>
              </a:rPr>
              <a:t>New bridge: use an n-party MPC for a related functionality f to construct ZK for 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316382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1E2761"/>
                </a:solidFill>
              </a:rPr>
              <a:t>▸</a:t>
            </a:r>
            <a:r>
              <a:rPr lang="en-US" sz="1050" b="1" dirty="0">
                <a:solidFill>
                  <a:srgbClr val="065F46"/>
                </a:solidFill>
              </a:rPr>
              <a:t>  </a:t>
            </a:r>
            <a:r>
              <a:rPr lang="en-US" sz="1050" dirty="0">
                <a:solidFill>
                  <a:srgbClr val="4B5563"/>
                </a:solidFill>
              </a:rPr>
              <a:t>The MPC only needs semi-honest security against 2 players — a much weaker requirement.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3785616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50" b="1" dirty="0">
                <a:solidFill>
                  <a:srgbClr val="1E2761"/>
                </a:solidFill>
              </a:rPr>
              <a:t>▸</a:t>
            </a:r>
            <a:r>
              <a:rPr lang="en-US" sz="1050" b="1" dirty="0">
                <a:solidFill>
                  <a:srgbClr val="065F46"/>
                </a:solidFill>
              </a:rPr>
              <a:t>  </a:t>
            </a:r>
            <a:r>
              <a:rPr lang="en-US" sz="1050" dirty="0">
                <a:solidFill>
                  <a:srgbClr val="4B5563"/>
                </a:solidFill>
              </a:rPr>
              <a:t>Result: ZK proofs with communication O(s) + poly(k, log s) — the first "constant-rate" construction.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Background: Definitions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114800" cy="406908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3895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Zero-Knowledge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30A3"/>
                </a:solidFill>
              </a:rPr>
              <a:t>Completeness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Honest prover on true statement always convinces verifier.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31343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30A3"/>
                </a:solidFill>
              </a:rPr>
              <a:t>Soundness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587752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No cheating prover can convince verifier of a false statement (except with negligible probability).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31927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30A3"/>
                </a:solidFill>
              </a:rPr>
              <a:t>Zero-Knowledge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3593592"/>
            <a:ext cx="3895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Verifier learns nothing beyond the truth of the statement: ∃ simulator M* s.t. View(V*) ≈ M*(x).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804672"/>
            <a:ext cx="4206240" cy="4069080"/>
          </a:xfrm>
          <a:prstGeom prst="rect">
            <a:avLst/>
          </a:prstGeom>
          <a:solidFill>
            <a:srgbClr val="F0FDFA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8686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</a:rPr>
              <a:t>Secure Multiparty Computation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1307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t-Privacy (semi-honest)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73168" y="158191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An adversary corrupting ≤ t honest-but-curious players learns nothing beyond their inputs and the output. Simulator SIM exists.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231343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t-Robustness (malicious)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73168" y="258775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Even if ≤ t players deviate, uncorrupted players' output is correct when x ∉ 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33192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Key models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73168" y="359359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Semi-honest (passive): follows protocol, tries to learn.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Malicious (active): arbitrary deviation.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Honest majority: t &lt; n/2 enables info-theoretic security.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Idea: MPC-in-the-Head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5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</a:rPr>
              <a:t>The prover simulates an n-player MPC execution entirely in her head, then commits to each player's view.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5029200" cy="329184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PROVER  (knows witness w)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737360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2432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1E2761"/>
                </a:solidFill>
              </a:rPr>
              <a:t>w₁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08176" y="173736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44752" y="2432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1E2761"/>
                </a:solidFill>
              </a:rPr>
              <a:t>w₂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40864" y="173736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432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1E2761"/>
                </a:solidFill>
              </a:rPr>
              <a:t>w</a:t>
            </a:r>
            <a:r>
              <a:rPr lang="en-US" sz="900" i="1" baseline="-25000" dirty="0">
                <a:solidFill>
                  <a:srgbClr val="1E2761"/>
                </a:solidFill>
              </a:rPr>
              <a:t>3</a:t>
            </a:r>
            <a:endParaRPr lang="en-US" sz="900" baseline="-25000" dirty="0"/>
          </a:p>
        </p:txBody>
      </p:sp>
      <p:sp>
        <p:nvSpPr>
          <p:cNvPr id="18" name="Shape 16"/>
          <p:cNvSpPr/>
          <p:nvPr/>
        </p:nvSpPr>
        <p:spPr>
          <a:xfrm>
            <a:off x="3273552" y="1737360"/>
            <a:ext cx="658368" cy="6583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432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</a:rPr>
              <a:t>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1737360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7373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42816" y="243230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1E2761"/>
                </a:solidFill>
              </a:rPr>
              <a:t>wₙ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2724912"/>
            <a:ext cx="4809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E2761"/>
                </a:solidFill>
              </a:rPr>
              <a:t>w₁ ⊕ w₂ ⊕ … ⊕ wₙ  =  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8643" y="3127248"/>
            <a:ext cx="46634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272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Commit to views  V₁, V₂, …, Vₙ  using 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703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Run Πf in her head  →  obtain V₁,…,Vₙ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0" y="1261872"/>
            <a:ext cx="3200400" cy="3291840"/>
          </a:xfrm>
          <a:prstGeom prst="rect">
            <a:avLst/>
          </a:prstGeom>
          <a:solidFill>
            <a:srgbClr val="FFF7ED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79008" y="1298448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VERIFIER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79008" y="1719072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① Receives commitments to V₁,…,Vₙ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79008" y="2414016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② Picks random pair {i, j}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79008" y="310896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③ Asks prover to open Vᵢ, Vⱼ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79008" y="3803904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④ Checks: outputs are 1 AND Vᵢ, Vⱼ are consistent w.r.t. Πf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0" y="292608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274320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2761"/>
                </a:solidFill>
              </a:rPr>
              <a:t>←─ challenge {i,j} ─→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E2761"/>
                </a:solidFill>
              </a:rPr>
              <a:t>←─ open Vᵢ, Vⱼ ─────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Protocol ΠR — Basic Construction (Semi-Honest MPC)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6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97680" cy="1307592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" cy="1307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41148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Secret-Share &amp; Simulate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119786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Prover picks random w₁,…,wₙ ∈ {0,1}ᵐ with w₁⊕…⊕wₙ = w. Runs Πf(x, w₁,…,wₙ) in her head. Obtains views V₁,…,Vₙ.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97680" cy="1307592"/>
          </a:xfrm>
          <a:prstGeom prst="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77240"/>
            <a:ext cx="411480" cy="1307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77240"/>
            <a:ext cx="41148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30368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Commit to All Views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0368" y="119786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Prover commits to each view Vᵢ separately using a statistically-binding commitment scheme Com (built from any one-way function).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297680" cy="1307592"/>
          </a:xfrm>
          <a:prstGeom prst="rect">
            <a:avLst/>
          </a:prstGeom>
          <a:solidFill>
            <a:srgbClr val="FFF7ED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94560"/>
            <a:ext cx="411480" cy="130759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94560"/>
            <a:ext cx="41148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Verifier's Challenge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261518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Verifier picks uniformly random distinct i, j ∈ [n] and sends to prover. Soundness error = 1 − 1/C(n,2).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194560"/>
            <a:ext cx="4297680" cy="1307592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194560"/>
            <a:ext cx="411480" cy="13075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194560"/>
            <a:ext cx="41148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30368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</a:rPr>
              <a:t>Open Two Views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261518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Prover decommits Vᵢ and Vⱼ. Verifier checks: (a) outputs of Pᵢ, Pⱼ are both 1; (b) Vᵢ,Vⱼ are consistent w.r.t. Πf and x.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4297680" cy="1307592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11880"/>
            <a:ext cx="411480" cy="130759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11880"/>
            <a:ext cx="41148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9808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Soundness Amplification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" y="403250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Single round: error ≤ 1−1/C(n,2). Repeat O(k·n²) times sequentially → soundness error 2^{−k}. Total communication: O(|w|) + comm(Πf) per round.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4297680" cy="1307592"/>
          </a:xfrm>
          <a:prstGeom prst="rect">
            <a:avLst/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11880"/>
            <a:ext cx="411480" cy="1307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11880"/>
            <a:ext cx="41148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30368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Zero-Knowledge via Simulation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403250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Simulator guesses {i,j}, runs SIM({i,j}, x, wᵢ, wⱼ, 1) from the MPC privacy simulator, sets other views randomly. ZK follows from 2-privacy of Πf.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Security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7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1600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</a:rPr>
              <a:t>Soundness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216152"/>
            <a:ext cx="8366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If x ∉ L, then by perfect correctness of Πf all honest executions produce output 0. So among the n committed views, either: (A) all outputs are 0 → verifier always rejects, OR (B) Lemma 2.3: some pair (Vᵢ,Vⱼ) is inconsistent, detected with prob ≥ 1/C(n,2). Soundness error ε ≤ 1 − 1/C(n,2). Repeat k·n² times → ε ≤ 2^{−Ω(k)}.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8595360" cy="1600200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5786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</a:rPr>
              <a:t>Zero-Knowledge (Simulation)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8366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Simulator M* on input x: (1) run V* to get its challenge {i,j}; (2) pick random wᵢ,wⱼ; (3) run MPC simulator SIM({i,j}, x, wᵢ,wⱼ, 1) to get simulated views Vᵢ,Vⱼ; (4) set Vh random for h∉{i,j}. Correctness: real wᵢ,wⱼ in actual execution are uniform and independent (since w is XOR-shared). Perfect 2-privacy of Πf ensures SIM output is identically distributed to (Vᵢ,Vⱼ) in real execution.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251960"/>
            <a:ext cx="836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</a:rPr>
              <a:t>Key Lemma (Local vs. Global Consistency):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42519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n views V₁,…,Vₙ correspond to an honest execution of Πf iff every pair (Vᵢ,Vⱼ) is pairwise consistent.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Extension: MPC in the Malicious Model (ΠR,t)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8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B5563"/>
                </a:solidFill>
              </a:rPr>
              <a:t>Goal: eliminate the O(kn²) repetition overhead. Use a t-robust MPC so the verifier can open t views at once.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60520" cy="3611880"/>
          </a:xfrm>
          <a:prstGeom prst="rect">
            <a:avLst/>
          </a:prstGeom>
          <a:solidFill>
            <a:srgbClr val="EEF2FF"/>
          </a:solidFill>
          <a:ln w="19050">
            <a:solidFill>
              <a:srgbClr val="A5B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Protocol ΠR,t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691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1. </a:t>
            </a:r>
            <a:r>
              <a:rPr lang="en-US" sz="1050" dirty="0">
                <a:solidFill>
                  <a:srgbClr val="4B5563"/>
                </a:solidFill>
              </a:rPr>
              <a:t>Same as ΠR but verifier picks t random distinct views i₁,…,iₜ ∈ [n].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2. </a:t>
            </a:r>
            <a:r>
              <a:rPr lang="en-US" sz="1050" dirty="0">
                <a:solidFill>
                  <a:srgbClr val="4B5563"/>
                </a:solidFill>
              </a:rPr>
              <a:t>Prover opens all t views.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2461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3. </a:t>
            </a:r>
            <a:r>
              <a:rPr lang="en-US" sz="1050" dirty="0">
                <a:solidFill>
                  <a:srgbClr val="4B5563"/>
                </a:solidFill>
              </a:rPr>
              <a:t>Verifier checks: all t outputs are 1, all C(t,2) pairs are pairwise consistent.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4023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4. </a:t>
            </a:r>
            <a:r>
              <a:rPr lang="en-US" sz="1050" dirty="0">
                <a:solidFill>
                  <a:srgbClr val="4B5563"/>
                </a:solidFill>
              </a:rPr>
              <a:t>Requires Πf to be t-private (semi-honest) AND t-robust (malicious) with t = Ω(k), n = ct.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206240" cy="3611880"/>
          </a:xfrm>
          <a:prstGeom prst="rect">
            <a:avLst/>
          </a:prstGeom>
          <a:solidFill>
            <a:srgbClr val="FFF7ED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98448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Soundness via Inconsistency Graph 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3168" y="1719072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Case 1: min-VC(G) ≤ 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2039112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committed views can be explained by an execution with ≤ t corrupt players. By t-robustness: ≥ n−t views have output 0. Verifier picks at least one with prob 1 − 2^{−Ω(k)}.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2743200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Case 2: min-VC(G) &gt; 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3063240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By König's theorem, G has a matching of size &gt; t/2. Verifier's t random picks hit an edge (inconsistency) with prob 1 − 2^{−Ω(k)}.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3767328"/>
            <a:ext cx="3986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Why t-robustness, not t-privacy?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4087368"/>
            <a:ext cx="3986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t-private alone: a single malicious player can corrupt all outputs; if not picked, no inconsistency </a:t>
            </a:r>
            <a:r>
              <a:rPr lang="en-US" sz="1000">
                <a:solidFill>
                  <a:srgbClr val="4B5563"/>
                </a:solidFill>
              </a:rPr>
              <a:t>detected.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Handling Statistical Correctness: Protocol Π′R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9 /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91B1B"/>
                </a:solidFill>
              </a:rPr>
              <a:t>Problem: If Πf is only statistically correct, a cheating prover can bias randomness to force incorrect outputs.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Solution: Coin-Flipping Protocol to bind randomness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85953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19072"/>
            <a:ext cx="8229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1907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" y="176479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Prover commits to private random shares rᵢP for each player Pᵢ (using Com).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859536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77440"/>
            <a:ext cx="8229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774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70432" y="24231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Verifier sends fresh random strings rᵢV.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35808"/>
            <a:ext cx="85953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35808"/>
            <a:ext cx="8229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3580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30815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Effective randomness: rᵢ = rᵢP ⊕ rᵢV — uniform and independent of prover's inputs.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859536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94176"/>
            <a:ext cx="8229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94176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373989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Prover runs Πf in her head with these rᵢ, then commits to all views.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52544"/>
            <a:ext cx="85953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352544"/>
            <a:ext cx="8229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352544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70432" y="4398264"/>
            <a:ext cx="75895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Verifier challenges {i,j}; prover opens Vᵢ,Vⱼ, wᵢ,wⱼ, rᵢP,rⱼP. Verifier checks consistency.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846320"/>
            <a:ext cx="83667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In the plain model: replace coin-flipping oracle with Blum's coin-flipping protocol (sequential repetition using Com). Adds O(nk) rounds but preserves black-box use of one-way functions.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Application 1: Approaching the Witness Length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10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Theorem (Corollary 3.7): If R(x,w) can be verified by a constant-depth circuit Cx of size s (using ∧,∨,⊕,¬ with unbounded fan-in), then assuming one-way functions, ∃ ZK proof with communication  m · poly(k) · polylog(s).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859536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6654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MPC for Constant-Depth Circuits [Barkol–Ishai '05]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39312" y="2066544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For n = polylog(s) players, Πf has communication/randomness complexity ≤ m·k·polylog(s). This is possible because constant-depth circuits can be represented using low-degree polynomials (Razborov–Smolensky technique) and computed via BGW-style secret sharing.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595360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7977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Plug into Π′R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39312" y="2779776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Apply the coin-flipping variant to handle statistical correctness. The resulting ZK proof has communication m·poly(k)·polylog(s) — much better than the O(ks) of classical protocols.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456432"/>
            <a:ext cx="8595360" cy="64008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493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Optimality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39312" y="349300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Lower bounds show ZK proofs (not arguments) cannot have communication o(m) without refuting known complexity conjectures. Our protocol is essentially optimal in the underlying assumption (OWFs) and near-optimal in communication.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169664"/>
            <a:ext cx="8595360" cy="6400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206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Non-interactive variant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39312" y="420624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approach also yields a ZK proof system in a non-interactive model with preprocessing, matching the complexity of Kalai–Raz [FOCS '06] but under weaker assumptions (OWFs vs. stronger hardness).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Application 2: Constant-Rate Zero-Knowledge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11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6858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Theorem (Corollary 4.9): Assuming one-way functions, for any NP relation R verified by a circuit of size s (bounded fan-in), ∃ ZK proof with communication O(s) + poly(k, log s).  For large s, the communication/circuit ratio approaches a constant.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Communication Complexity Comparison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260604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29968"/>
            <a:ext cx="2459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Protocol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98648" y="1993392"/>
            <a:ext cx="233172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029968"/>
            <a:ext cx="218541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Communication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48656" y="1993392"/>
            <a:ext cx="132588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2029968"/>
            <a:ext cx="11795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Assumption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92824" y="1993392"/>
            <a:ext cx="2176272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2029968"/>
            <a:ext cx="20299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260604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624328"/>
            <a:ext cx="2459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GMW / Classical (3-Col)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898648" y="2587752"/>
            <a:ext cx="233172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624328"/>
            <a:ext cx="218541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O(k·s²)  (Karp reduction overhead)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48656" y="2587752"/>
            <a:ext cx="132588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2624328"/>
            <a:ext cx="11795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OWFs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92824" y="2587752"/>
            <a:ext cx="2176272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65976" y="2624328"/>
            <a:ext cx="20299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Baseline; Karp reduction to fixed NP-complete problem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182112"/>
            <a:ext cx="260604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218688"/>
            <a:ext cx="2459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Cramer–Damgård (linear ZK)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898648" y="3182112"/>
            <a:ext cx="23317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3218688"/>
            <a:ext cx="218541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O(k·s)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48656" y="3182112"/>
            <a:ext cx="132588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3218688"/>
            <a:ext cx="11795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OWFs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92824" y="3182112"/>
            <a:ext cx="2176272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5976" y="3218688"/>
            <a:ext cx="20299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Best prior; linear in circuit but k multiplicative factor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776472"/>
            <a:ext cx="260604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813048"/>
            <a:ext cx="2459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This work — semi-honest MPC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898648" y="3776472"/>
            <a:ext cx="233172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3813048"/>
            <a:ext cx="218541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O(k·s)  (simpler derivation)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48656" y="3776472"/>
            <a:ext cx="132588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3813048"/>
            <a:ext cx="11795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OWFs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92824" y="3776472"/>
            <a:ext cx="2176272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5976" y="3813048"/>
            <a:ext cx="20299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Cleaner; plugs in GMW/BGW directly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370832"/>
            <a:ext cx="26060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407408"/>
            <a:ext cx="2459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</a:rPr>
              <a:t>This work — constant-rate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898648" y="4370832"/>
            <a:ext cx="233172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71800" y="4407408"/>
            <a:ext cx="218541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</a:rPr>
              <a:t>O(s) + poly(k, log 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48656" y="4370832"/>
            <a:ext cx="132588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4407408"/>
            <a:ext cx="11795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</a:rPr>
              <a:t>OWFs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92824" y="4370832"/>
            <a:ext cx="2176272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65976" y="4407408"/>
            <a:ext cx="20299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</a:rPr>
              <a:t>First constant-rate ZK proof; uses Damgård–Ishai MPC + AG codes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4965192"/>
            <a:ext cx="260604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5001768"/>
            <a:ext cx="245973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ZK arguments (Kilian '92)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898648" y="4965192"/>
            <a:ext cx="233172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71800" y="5001768"/>
            <a:ext cx="218541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poly(k)·polylog(s)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48656" y="4965192"/>
            <a:ext cx="132588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5001768"/>
            <a:ext cx="11795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CRHFs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92824" y="4965192"/>
            <a:ext cx="2176272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65976" y="5001768"/>
            <a:ext cx="202996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Computational soundness only; PCP-based, not practical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</a:rPr>
              <a:t>★ Constant-rate means: for large circuits, doubling the circuit size only doubles the communication — no security-parameter blowup.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Paper Does Not Solve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12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97680" cy="1325880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109728" cy="13258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✗  Concrete Efficiency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1615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O(s) constant is large in practice. The underlying Damgård–Ishai MPC protocol has significant poly(k,n) overhead. The protocol is not practical for deployment without significant engineering.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97680" cy="1325880"/>
          </a:xfrm>
          <a:prstGeom prst="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777240"/>
            <a:ext cx="109728" cy="1325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✗  Round Complexity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1615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basic construction requires O(kn²) rounds for soundness amplification. The advanced variant uses a preamble with k rounds. Constant-round ZK proofs (under one-way functions) remain open.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4297680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12848"/>
            <a:ext cx="109728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04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✗  Proof of Knowledge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paper notes the construction satisfies proof of knowledge but does not formally prove or optimize it. Extractors are not explicitly constructed.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212848"/>
            <a:ext cx="4297680" cy="1325880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212848"/>
            <a:ext cx="109728" cy="13258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04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</a:rPr>
              <a:t>✗  Non-Black-Box Lower Bound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paper shows one cannot directly boost semi-honest → malicious in a black-box way for the same functionality. But the exact black-box separation is not fully characterized.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648456"/>
            <a:ext cx="4297680" cy="1325880"/>
          </a:xfrm>
          <a:prstGeom prst="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48456"/>
            <a:ext cx="10972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398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✗  Adaptive Corruptions (Partial)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08736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Adaptive robustness is handled only for the two-phase MPC setting. General adaptive adversaries in the ZK setting are not addressed.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648456"/>
            <a:ext cx="4297680" cy="1325880"/>
          </a:xfrm>
          <a:prstGeom prst="rect">
            <a:avLst/>
          </a:prstGeom>
          <a:solidFill>
            <a:srgbClr val="FFF1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48456"/>
            <a:ext cx="109728" cy="132588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7398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1239"/>
                </a:solidFill>
              </a:rPr>
              <a:t>✗  Communication Lower Bounds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087368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Matching lower bounds showing Ω(s) communication is necessary for ZK proofs (not just arguments) are not established in this paper.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Extensions &amp; Subsequent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13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0972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Improved Complexity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Goldwasser–Kalai–Rothblum [STOC '08]: extended near-witness-length ZK to polylog-depth circuits (complexity class NC), improving on this paper's constant-depth restriction.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3677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Interactive PCPs (Kalai–Raz [ICALP '08]): an alternative approach giving ZK argument systems with similar complexity under different assumptions.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03704"/>
            <a:ext cx="10972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0370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Broader Applications of MPC-in-the-Head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Ishai–Prabhakaran–Sahai [CRYPTO '08]: founding MPC on oblivious transfer efficiently, using the black-box technique from this paper.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OT combiners from secure computation (Harnik–Ishai–Kushilevitz–Nielsen [TCC '08]).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538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The MPC-in-the-head paradigm has become a central tool in post-quantum ZK and MPC — see ZKBoo, ZKB++, Ligero, and picnic signature schemes.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105656"/>
            <a:ext cx="109728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056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Practical Implementations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48970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Giacomelli–Madsen–Orlandi [USENIX SEC '16]: ZKBoo — practical ZK proofs based directly on this paradigm.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9651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Chase et al. [CCS '17]: ZKB++ and the Picnic digital signature scheme (a finalist in NIST post-quantum standardization), directly derived from MPC-in-the-head.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▸  </a:t>
            </a:r>
            <a:r>
              <a:rPr lang="en-US" sz="1050" dirty="0">
                <a:solidFill>
                  <a:srgbClr val="4B5563"/>
                </a:solidFill>
              </a:rPr>
              <a:t>Ligero (Ames–Hazay–Ishai–Venkitasubramaniam [CCS '17]): combines this approach with linear codes for efficient proofs.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Open Problems &amp; Research Directions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14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103327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0332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85953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Q: Can we achieve constant-rate ZK with constant rounds?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Current constant-rate protocol requires a preamble of Θ(k) rounds. Achieving O(1) rounds with O(s) communication under standard assumptions remains open.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8595360" cy="78638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26680" y="189280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892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Deep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71907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Q: Optimal communication for ZK proofs of arbitrary NP relations?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206654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Is Ω(s) a lower bound for ZK proofs (not arguments)? Any sub-linear protocol would imply surprising consequences for probabilistic algorithms for SAT [Goldreich–Håstad '98].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859536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2752344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75234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Practical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57860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Q: Can MPC-in-the-head achieve better concrete efficiency?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292608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Reduce the poly(k,n) additive overhead. Optimize n (number of virtual players), choice of secret sharing, and commitment scheme. The Picnic/ZKBoo lines address this empirically.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8595360" cy="786384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361188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3611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343814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Q: Black-box constructions of general MPC from semi-honest MPC?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4048" y="378561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paper shows a special case (ZK from semi-honest MPC). Can one build fully general malicious-secure MPC from semi-honest MPC in a black-box way for all functionalities?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242816"/>
            <a:ext cx="8595360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4471416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4471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Theory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42976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Q: Better understanding of ZK ↔ MPC connection?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4048" y="46451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The paper notes ZK proofs implement a zero-knowledge variant of PCPs over large alphabets. A unified complexity-theoretic framework for PCPs, interactive proofs, and MPC in this context is lacking.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Points for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Ishai, Kushilevitz, Ostrovsky, Sahai  ·  STOC 2007 / SICOMP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92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</a:rPr>
              <a:t>15 /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97680" cy="1920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8696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86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914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Black-box vs. non-black-box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371600"/>
            <a:ext cx="404164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The GMW paradigm requires non-black-box access to Πf (looks inside the protocol to add ZK proofs to each message). This paper achieves the same goal black-box. What does this tell us about the limits and power of black-box reductions in cryptography?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97680" cy="1920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88696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886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13248" y="914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The role of honest majority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9472" y="1371600"/>
            <a:ext cx="404164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MPC with honest majority is "free" (information-theoretically secure). The paper exploits this for ZK proofs, which require no honest majority. Is this the right abstraction? Can we always "borrow" efficiency from simpler computational models?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297680" cy="1920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89864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98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2926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Proof vs. Argument — is it worth it?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383280"/>
            <a:ext cx="404164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ZK arguments (computational soundness) achieve polylog(s) communication (Kilian '92) but are based on PCPs and practically very slow. This paper gets O(s) proofs (statistical soundness). In practice, the distinction matters less — is statistical soundness worth the O(s) price?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297680" cy="1920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289864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898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13248" y="2926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MPC-in-the-head in practice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3383280"/>
            <a:ext cx="404164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Picnic (a NIST PQC finalist) is a signature scheme built directly from this paradigm via the Fiat–Shamir transform. What made this paradigm especially suitable for post-quantum cryptography? What are its efficiency trade-offs vs. lattice-based schemes?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References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[GMW '87] Goldreich–Micali–Wigderson. How to play any mental game. STOC 1987.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74320" y="101498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[BGW '88] Ben-Or–Goldwasser–Wigderson. Completeness for non-cryptographic fault-tolerant computation. STOC 1988.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34416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[GMR '89] Goldwasser–Micali–Rackoff. The knowledge complexity of interactive proof systems. SICOMP 1989.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[Kil '92] Kilian. Efficient ZK proofs and arguments. STOC 1992.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00253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[CD '97] Cramer–Damgård. Linear ZK. STOC 1997.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[BI '05] Barkol–Ishai. Secure computation of constant-depth circuits. CRYPTO 2005.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66090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[DI '06] Damgård–Ishai. Scalable secure MPC. CRYPTO 2006.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299008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[CC '06] Chen–Cramer. AG secret sharing. CRYPTO 2006.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331927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[KR '06] Kalai–Raz. Succinct NIZK with preprocessing. FOCS 2006.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648456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[IKOSW '07] This paper. STOC 2007 / SICOMP.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3977640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[GKR '08] Goldwasser–Kalai–Rothblum. Delegating computation. STOC 2008.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4306824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[GMO '16] Giacomelli–Madsen–Orlandi. ZKBoo. USENIX SEC 2016.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463600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[CDG+ '17] Chase et al. ZKB++ / Picnic. CCS 2017.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0" y="640080"/>
            <a:ext cx="38404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7772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6672" y="749808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Established the first general black-box connection between ZK proofs and secure MPC.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144475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1417320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The "MPC-in-the-head" technique: simulate n-party protocol internally, commit to views, open challenged views.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11226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2084832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Achieves communication O(s) + poly(k, log s) — the first constant-rate ZK proof for all NP.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77977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2752344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Also achieves near-witness-length for constant-depth relations: m·poly(k)·polylog(s).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44728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672" y="3419856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Black-box reduction from ZK to semi-honest MPC (2-private) — much weaker than malicious.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41148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4087368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Spawned a rich practical line: ZKBoo, ZKB++, Picnic (NIST PQC finalist), Ligero.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6451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3438</Words>
  <Application>Microsoft Office PowerPoint</Application>
  <PresentationFormat>On-screen Show (16:9)</PresentationFormat>
  <Paragraphs>301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Zero-Knowledge from Secure Multiparty Computation</dc:title>
  <dc:subject>PptxGenJS Presentation</dc:subject>
  <dc:creator>Ishai, Kushilevitz, Ostrovsky, Sahai</dc:creator>
  <cp:lastModifiedBy>Vignan Srikesh Bathini</cp:lastModifiedBy>
  <cp:revision>3</cp:revision>
  <dcterms:created xsi:type="dcterms:W3CDTF">2026-05-03T10:01:19Z</dcterms:created>
  <dcterms:modified xsi:type="dcterms:W3CDTF">2026-05-04T07:07:22Z</dcterms:modified>
</cp:coreProperties>
</file>